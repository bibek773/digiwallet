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73" r:id="rId7"/>
    <p:sldId id="270" r:id="rId8"/>
    <p:sldId id="271" r:id="rId9"/>
    <p:sldId id="265" r:id="rId10"/>
    <p:sldId id="264" r:id="rId11"/>
    <p:sldId id="261" r:id="rId12"/>
    <p:sldId id="262" r:id="rId13"/>
    <p:sldId id="263" r:id="rId14"/>
    <p:sldId id="266" r:id="rId15"/>
    <p:sldId id="268" r:id="rId16"/>
    <p:sldId id="267" r:id="rId17"/>
    <p:sldId id="272" r:id="rId18"/>
    <p:sldId id="269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u_emble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063" y="134044"/>
            <a:ext cx="1180026" cy="887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5829" y="1100310"/>
            <a:ext cx="315823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 i="0">
                <a:solidFill>
                  <a:srgbClr val="5A5A5A"/>
                </a:solidFill>
                <a:latin typeface="Times New Roman"/>
              </a:defRPr>
            </a:pPr>
            <a:r>
              <a:rPr sz="2800" dirty="0"/>
              <a:t>Department of 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386" y="1660752"/>
            <a:ext cx="393383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 i="0">
                <a:solidFill>
                  <a:srgbClr val="162644"/>
                </a:solidFill>
                <a:latin typeface="Times New Roman"/>
              </a:defRPr>
            </a:pPr>
            <a:r>
              <a:rPr dirty="0"/>
              <a:t>A project</a:t>
            </a:r>
            <a:r>
              <a:rPr lang="en-US" dirty="0"/>
              <a:t>(minor) </a:t>
            </a:r>
            <a:r>
              <a:rPr dirty="0"/>
              <a:t>proposal defense 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646" y="2133020"/>
            <a:ext cx="8087193" cy="621792"/>
          </a:xfrm>
          <a:prstGeom prst="rect">
            <a:avLst/>
          </a:prstGeom>
          <a:solidFill>
            <a:srgbClr val="E8F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17220" y="2218028"/>
            <a:ext cx="8229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“</a:t>
            </a:r>
            <a:r>
              <a:rPr dirty="0" err="1"/>
              <a:t>DiGiWallet</a:t>
            </a:r>
            <a:r>
              <a:rPr dirty="0"/>
              <a:t>: Digital Academic Credential Verification System”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8" y="3027497"/>
            <a:ext cx="216456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u="sng" dirty="0"/>
              <a:t>Project Members: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78" y="3498447"/>
            <a:ext cx="246362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 i="0">
                <a:solidFill>
                  <a:srgbClr val="704497"/>
                </a:solidFill>
                <a:latin typeface="Times New Roman"/>
              </a:defRPr>
            </a:pPr>
            <a:r>
              <a:rPr dirty="0"/>
              <a:t>Bibek Ghimire    </a:t>
            </a:r>
            <a:r>
              <a:rPr lang="en-US" dirty="0"/>
              <a:t>   </a:t>
            </a:r>
            <a:r>
              <a:rPr dirty="0"/>
              <a:t>230309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8" y="3856100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 i="0">
                <a:solidFill>
                  <a:srgbClr val="704497"/>
                </a:solidFill>
                <a:latin typeface="Times New Roman"/>
              </a:defRPr>
            </a:pPr>
            <a:r>
              <a:rPr dirty="0"/>
              <a:t>Maheshwar Pant   230322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893" y="4085300"/>
            <a:ext cx="245612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 i="0">
                <a:solidFill>
                  <a:srgbClr val="704497"/>
                </a:solidFill>
                <a:latin typeface="Times New Roman"/>
              </a:defRPr>
            </a:pPr>
            <a:r>
              <a:rPr dirty="0"/>
              <a:t>Manish</a:t>
            </a:r>
            <a:r>
              <a:rPr lang="en-US" dirty="0"/>
              <a:t>a</a:t>
            </a:r>
            <a:r>
              <a:rPr dirty="0"/>
              <a:t> Oli       </a:t>
            </a:r>
            <a:r>
              <a:rPr lang="en-US" dirty="0"/>
              <a:t>    </a:t>
            </a:r>
            <a:r>
              <a:rPr dirty="0"/>
              <a:t>230347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3028300"/>
            <a:ext cx="168507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u="sng" dirty="0"/>
              <a:t>Submitted 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987" y="3498447"/>
            <a:ext cx="2743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 i="0">
                <a:solidFill>
                  <a:srgbClr val="704497"/>
                </a:solidFill>
                <a:latin typeface="Times New Roman"/>
              </a:defRPr>
            </a:pPr>
            <a:r>
              <a:rPr dirty="0"/>
              <a:t>Department of ICT</a:t>
            </a:r>
            <a:br>
              <a:rPr dirty="0"/>
            </a:br>
            <a:r>
              <a:rPr dirty="0"/>
              <a:t>Cosmos College of</a:t>
            </a:r>
            <a:br>
              <a:rPr dirty="0"/>
            </a:br>
            <a:r>
              <a:rPr dirty="0"/>
              <a:t>Management and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8" y="4420706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Date :  May,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0" y="4858697"/>
            <a:ext cx="890415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850892"/>
            <a:ext cx="228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t>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062DCF-F6FE-67A1-5A8E-BAD0572F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76" y="134044"/>
            <a:ext cx="6643688" cy="966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5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4850892"/>
            <a:ext cx="228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169" y="749102"/>
            <a:ext cx="185582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lang="en-US" u="sng" dirty="0"/>
              <a:t>Introduction</a:t>
            </a:r>
            <a:endParaRPr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8138160" cy="29992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u="none">
                <a:solidFill>
                  <a:srgbClr val="000000"/>
                </a:solidFill>
                <a:latin typeface="Times New Roman"/>
              </a:rPr>
              <a:t>• Academic credentials include certificates, transcripts and degree documents.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u="none">
                <a:solidFill>
                  <a:srgbClr val="000000"/>
                </a:solidFill>
                <a:latin typeface="Times New Roman"/>
              </a:rPr>
              <a:t>• Used for employment, higher education, scholarships and professional registration.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u="none">
                <a:solidFill>
                  <a:srgbClr val="000000"/>
                </a:solidFill>
                <a:latin typeface="Times New Roman"/>
              </a:rPr>
              <a:t>• Traditional verification is slow, repetitive and vulnerable to fraud.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u="none">
                <a:solidFill>
                  <a:srgbClr val="000000"/>
                </a:solidFill>
                <a:latin typeface="Times New Roman"/>
              </a:rPr>
              <a:t>• DiGiWallet issues, stores, shares and verifies credentials digitally.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u="none">
                <a:solidFill>
                  <a:srgbClr val="000000"/>
                </a:solidFill>
                <a:latin typeface="Times New Roman"/>
              </a:rPr>
              <a:t>• Digital signatures confirm authenticity; QR codes enable quick verification.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u="none">
                <a:solidFill>
                  <a:srgbClr val="000000"/>
                </a:solidFill>
                <a:latin typeface="Times New Roman"/>
              </a:rPr>
              <a:t>• Reduces fake documents, manual effort and verification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8745" y="4881780"/>
            <a:ext cx="24237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825181"/>
            <a:ext cx="271664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96264"/>
            <a:ext cx="76123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Academic credential verification is still slow, repetitive and dependent on manual checking. </a:t>
            </a:r>
            <a:r>
              <a:rPr sz="1600" dirty="0" err="1"/>
              <a:t>DiGiWallet</a:t>
            </a:r>
            <a:r>
              <a:rPr sz="1600" dirty="0"/>
              <a:t> addresses this by enabling reusable digitally signed academic credentials.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5C38E-1B75-D3FF-B3B2-68F73BD3E6BD}"/>
              </a:ext>
            </a:extLst>
          </p:cNvPr>
          <p:cNvSpPr txBox="1"/>
          <p:nvPr/>
        </p:nvSpPr>
        <p:spPr>
          <a:xfrm>
            <a:off x="730091" y="2384542"/>
            <a:ext cx="72009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Students carry duplicate photocopies or scanned copies for different applications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Employers spend time contacting institutions to confirm document authenticity.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No simple reusable digital platform exists for instant QR-based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8745" y="4881780"/>
            <a:ext cx="24237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4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79704" y="744486"/>
            <a:ext cx="360630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u="sng" dirty="0"/>
              <a:t>Problem Context in Nepal</a:t>
            </a:r>
          </a:p>
        </p:txBody>
      </p:sp>
      <p:pic>
        <p:nvPicPr>
          <p:cNvPr id="10" name="Picture 9" descr="wide_clean_vector_illustration_in_a_flat_modern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512" y="1316226"/>
            <a:ext cx="3741608" cy="32407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" y="1337966"/>
            <a:ext cx="330250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Repeated Document 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404" y="1636882"/>
            <a:ext cx="437023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Students submit the same certificates repeatedly for jobs, internships, higher studies, KYC and official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977" y="2440772"/>
            <a:ext cx="256647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u="sng" dirty="0"/>
              <a:t>Slow Manual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976" y="2718273"/>
            <a:ext cx="4361088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Employers often contact colleges or universities manually through email, phone or official correspondence.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329" y="3568132"/>
            <a:ext cx="2280881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u="sng" dirty="0"/>
              <a:t>Fake / Tampered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977" y="3851034"/>
            <a:ext cx="436108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Scanned or physical certificates can be altered or misused, creating trust issues for employers and institutions.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4850892"/>
            <a:ext cx="228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74424"/>
            <a:ext cx="424654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Proposed Solution: </a:t>
            </a:r>
            <a:r>
              <a:rPr sz="2400" u="sng" dirty="0" err="1"/>
              <a:t>DiGiWallet</a:t>
            </a:r>
            <a:endParaRPr sz="2400" u="sng" dirty="0"/>
          </a:p>
        </p:txBody>
      </p:sp>
      <p:pic>
        <p:nvPicPr>
          <p:cNvPr id="10" name="Picture 9" descr="a_clean_flat_vector_illustration_ui_conceptual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144" y="1835490"/>
            <a:ext cx="2948302" cy="1953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1256633"/>
            <a:ext cx="654589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 err="1"/>
              <a:t>DiGiWallet</a:t>
            </a:r>
            <a:r>
              <a:rPr sz="1600" dirty="0"/>
              <a:t> provides a secure digital wallet where students receive, store </a:t>
            </a:r>
            <a:endParaRPr lang="en-US" sz="1600" dirty="0"/>
          </a:p>
          <a:p>
            <a:pPr algn="just">
              <a:defRPr sz="16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and share academic credentials issued by verified</a:t>
            </a:r>
            <a:r>
              <a:rPr lang="en-US" sz="1600" dirty="0"/>
              <a:t> </a:t>
            </a:r>
            <a:r>
              <a:rPr sz="1600" dirty="0"/>
              <a:t>colleges.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66323"/>
            <a:ext cx="1699134" cy="420624"/>
          </a:xfrm>
          <a:prstGeom prst="roundRect">
            <a:avLst/>
          </a:prstGeom>
          <a:solidFill>
            <a:srgbClr val="1D4E7E"/>
          </a:solidFill>
          <a:ln w="15240">
            <a:solidFill>
              <a:srgbClr val="1D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/>
              <a:t>College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8429" y="2061023"/>
            <a:ext cx="2840636" cy="420624"/>
          </a:xfrm>
          <a:prstGeom prst="roundRect">
            <a:avLst/>
          </a:prstGeom>
          <a:solidFill>
            <a:srgbClr val="F6FAFC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verified academic credential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59" y="2689958"/>
            <a:ext cx="1699135" cy="420624"/>
          </a:xfrm>
          <a:prstGeom prst="roundRect">
            <a:avLst/>
          </a:prstGeom>
          <a:solidFill>
            <a:srgbClr val="1D4E7E"/>
          </a:solidFill>
          <a:ln w="15240">
            <a:solidFill>
              <a:srgbClr val="1D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/>
              <a:t>Student stores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8034" y="2683271"/>
            <a:ext cx="2886356" cy="420624"/>
          </a:xfrm>
          <a:prstGeom prst="roundRect">
            <a:avLst/>
          </a:prstGeom>
          <a:solidFill>
            <a:srgbClr val="F6FAFC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credential in digital wallet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59" y="3282696"/>
            <a:ext cx="1699135" cy="420624"/>
          </a:xfrm>
          <a:prstGeom prst="roundRect">
            <a:avLst/>
          </a:prstGeom>
          <a:solidFill>
            <a:srgbClr val="1D4E7E"/>
          </a:solidFill>
          <a:ln w="15240">
            <a:solidFill>
              <a:srgbClr val="1D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/>
              <a:t>Verifier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8034" y="3319503"/>
            <a:ext cx="2886356" cy="420624"/>
          </a:xfrm>
          <a:prstGeom prst="roundRect">
            <a:avLst/>
          </a:prstGeom>
          <a:solidFill>
            <a:srgbClr val="F6FAFC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authenticity using QR/link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970" y="4215050"/>
            <a:ext cx="661155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 i="0">
                <a:solidFill>
                  <a:srgbClr val="007A7C"/>
                </a:solidFill>
                <a:latin typeface="Times New Roman"/>
              </a:defRPr>
            </a:pPr>
            <a:r>
              <a:rPr sz="1600" dirty="0"/>
              <a:t>Main Value: one trusted credential, reusable verification, less paperwork.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1083B8-26B7-5669-F9DB-8A29EE717EFA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>
            <a:extLst>
              <a:ext uri="{FF2B5EF4-FFF2-40B4-BE49-F238E27FC236}">
                <a16:creationId xmlns:a16="http://schemas.microsoft.com/office/drawing/2014/main" id="{01C0D1BC-6A21-BC60-9E7E-72E838FD4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>
            <a:extLst>
              <a:ext uri="{FF2B5EF4-FFF2-40B4-BE49-F238E27FC236}">
                <a16:creationId xmlns:a16="http://schemas.microsoft.com/office/drawing/2014/main" id="{E1FF4CA0-52A3-3044-A9FE-3D35A2E9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F56FB-1FF3-888F-CD6A-C928A8C83B6D}"/>
              </a:ext>
            </a:extLst>
          </p:cNvPr>
          <p:cNvSpPr txBox="1"/>
          <p:nvPr/>
        </p:nvSpPr>
        <p:spPr>
          <a:xfrm>
            <a:off x="0" y="4858696"/>
            <a:ext cx="9144000" cy="276999"/>
          </a:xfrm>
          <a:prstGeom prst="rect">
            <a:avLst/>
          </a:prstGeom>
          <a:solidFill>
            <a:schemeClr val="tx2"/>
          </a:solidFill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1335B-F69D-4325-8D44-A520FAC9CEE9}"/>
              </a:ext>
            </a:extLst>
          </p:cNvPr>
          <p:cNvSpPr txBox="1"/>
          <p:nvPr/>
        </p:nvSpPr>
        <p:spPr>
          <a:xfrm>
            <a:off x="679704" y="930564"/>
            <a:ext cx="156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C7E6A7-5793-4307-99FD-BD2C96D75205}"/>
              </a:ext>
            </a:extLst>
          </p:cNvPr>
          <p:cNvSpPr txBox="1"/>
          <p:nvPr/>
        </p:nvSpPr>
        <p:spPr>
          <a:xfrm>
            <a:off x="614098" y="1706462"/>
            <a:ext cx="81436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objectives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DiGiWallet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are: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secure web-based system for issuing digitally signed academic credentials.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students with a digital wallet for storing and sharing credentials through QR codes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or verification links.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employers and institutions to verify credentials instantly.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repeated document submission, manual verification delays, and fake certificate risks.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demonstrate a reliable prototype using web and cryptographic technologies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10EAA-FF2A-1654-3336-3DDCCD68B33A}"/>
              </a:ext>
            </a:extLst>
          </p:cNvPr>
          <p:cNvSpPr txBox="1"/>
          <p:nvPr/>
        </p:nvSpPr>
        <p:spPr>
          <a:xfrm>
            <a:off x="8718745" y="4881780"/>
            <a:ext cx="24237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05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0AD4F2-48CD-CAEA-4250-8ABC2D8A29A9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>
            <a:extLst>
              <a:ext uri="{FF2B5EF4-FFF2-40B4-BE49-F238E27FC236}">
                <a16:creationId xmlns:a16="http://schemas.microsoft.com/office/drawing/2014/main" id="{552E106F-33C2-FA32-89C8-724238AD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>
            <a:extLst>
              <a:ext uri="{FF2B5EF4-FFF2-40B4-BE49-F238E27FC236}">
                <a16:creationId xmlns:a16="http://schemas.microsoft.com/office/drawing/2014/main" id="{FF06DC7D-FB2D-1073-48CA-1ED9B126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A70B1E-79B9-A1DB-4F3C-00526E6C4DF3}"/>
              </a:ext>
            </a:extLst>
          </p:cNvPr>
          <p:cNvSpPr txBox="1"/>
          <p:nvPr/>
        </p:nvSpPr>
        <p:spPr>
          <a:xfrm>
            <a:off x="2554460" y="4812530"/>
            <a:ext cx="403507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Departm</a:t>
            </a:r>
            <a:r>
              <a:rPr lang="en-US" dirty="0" err="1"/>
              <a:t>Department</a:t>
            </a:r>
            <a:r>
              <a:rPr lang="en-US" dirty="0"/>
              <a:t> of ICT, Cosmos College of Management and Technology</a:t>
            </a:r>
          </a:p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ent</a:t>
            </a:r>
            <a:r>
              <a:rPr dirty="0"/>
              <a:t> of ICT, Cosmos College of Management and Technology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163B3-EBAC-B5FC-CE91-6B205504DCD2}"/>
              </a:ext>
            </a:extLst>
          </p:cNvPr>
          <p:cNvSpPr txBox="1"/>
          <p:nvPr/>
        </p:nvSpPr>
        <p:spPr>
          <a:xfrm>
            <a:off x="0" y="4858696"/>
            <a:ext cx="9144000" cy="276999"/>
          </a:xfrm>
          <a:prstGeom prst="rect">
            <a:avLst/>
          </a:prstGeom>
          <a:solidFill>
            <a:schemeClr val="tx2"/>
          </a:solidFill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DED97-CA0C-F889-FE9A-B283B86CBBCF}"/>
              </a:ext>
            </a:extLst>
          </p:cNvPr>
          <p:cNvSpPr txBox="1"/>
          <p:nvPr/>
        </p:nvSpPr>
        <p:spPr>
          <a:xfrm>
            <a:off x="679704" y="671110"/>
            <a:ext cx="2578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9EEAB-488E-744B-3572-29D408F7F2F5}"/>
              </a:ext>
            </a:extLst>
          </p:cNvPr>
          <p:cNvSpPr txBox="1"/>
          <p:nvPr/>
        </p:nvSpPr>
        <p:spPr>
          <a:xfrm>
            <a:off x="8718745" y="4881780"/>
            <a:ext cx="24237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7818120" cy="35661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u="sng">
                <a:solidFill>
                  <a:srgbClr val="000000"/>
                </a:solidFill>
                <a:latin typeface="Times New Roman"/>
              </a:rPr>
              <a:t>➢ Background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Academic credential fraud affects trust between students, institutions and employers.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Paper certificates and scanned copies can be forged, damaged, lost or reused.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Manual verification through email, phone or official letters is slow and costly.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Digital identity guidelines emphasize secure identity proofing, authentication and trust [1].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u="sng">
                <a:solidFill>
                  <a:srgbClr val="000000"/>
                </a:solidFill>
                <a:latin typeface="Times New Roman"/>
              </a:rPr>
              <a:t>➢ Related Standards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Decentralized Identifiers (DIDs) support verifiable digital identity without relying on one central authority [2].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Verifiable Credentials define a standard way to issue, hold and verify digital records [3].</a:t>
            </a:r>
          </a:p>
        </p:txBody>
      </p:sp>
    </p:spTree>
    <p:extLst>
      <p:ext uri="{BB962C8B-B14F-4D97-AF65-F5344CB8AC3E}">
        <p14:creationId xmlns:p14="http://schemas.microsoft.com/office/powerpoint/2010/main" val="164490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4D9E18-DE41-38C7-755F-0F58C806F7BC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>
            <a:extLst>
              <a:ext uri="{FF2B5EF4-FFF2-40B4-BE49-F238E27FC236}">
                <a16:creationId xmlns:a16="http://schemas.microsoft.com/office/drawing/2014/main" id="{70D29F2C-FDF0-4CB9-AB62-F6285C38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>
            <a:extLst>
              <a:ext uri="{FF2B5EF4-FFF2-40B4-BE49-F238E27FC236}">
                <a16:creationId xmlns:a16="http://schemas.microsoft.com/office/drawing/2014/main" id="{3CD4BDC7-E9E9-2051-CF79-5A046A121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48C2D2-38D5-4689-5DA0-F3778E76F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08804"/>
            <a:ext cx="9144000" cy="323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CFC1C3-DF98-9061-0636-85A622DE1E25}"/>
              </a:ext>
            </a:extLst>
          </p:cNvPr>
          <p:cNvSpPr txBox="1"/>
          <p:nvPr/>
        </p:nvSpPr>
        <p:spPr>
          <a:xfrm>
            <a:off x="8718745" y="4881780"/>
            <a:ext cx="24237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8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749808"/>
            <a:ext cx="7818120" cy="3703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u="sng">
                <a:solidFill>
                  <a:srgbClr val="000000"/>
                </a:solidFill>
                <a:latin typeface="Times New Roman"/>
              </a:rPr>
              <a:t>➢ Existing Research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SSI research gives users control over credentials and reduces dependency on central intermediaries [4].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Blockchain-based SSI has been proposed for secure academic credential management [5].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Rustemi et al. found that blockchain improves transparency, security, traceability and trust [6].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Cerberus showed that blockchain can reduce verification time and third-party dependency [7].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Blockcerts introduced an open standard for blockchain-based certificates [8].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u="sng">
                <a:solidFill>
                  <a:srgbClr val="000000"/>
                </a:solidFill>
                <a:latin typeface="Times New Roman"/>
              </a:rPr>
              <a:t>➢ Challenges and Research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Existing systems can be costly, complex, hard to scale and difficult to standardize.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u="none">
                <a:solidFill>
                  <a:srgbClr val="000000"/>
                </a:solidFill>
                <a:latin typeface="Times New Roman"/>
              </a:rPr>
              <a:t>• DiGiWallet focuses on a feasible academic prototype using digital signatures and QR-based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44432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8745" y="4881780"/>
            <a:ext cx="24237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9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65810" y="812943"/>
            <a:ext cx="293785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Project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63" y="1441793"/>
            <a:ext cx="263835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Research &amp;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779858"/>
            <a:ext cx="334670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Study current manual verification practices and existing digital credential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519457"/>
            <a:ext cx="188372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System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771" y="1888565"/>
            <a:ext cx="354787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Identify actors, requirements, data flow, modules and security checkpoints.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63" y="2740928"/>
            <a:ext cx="254056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Prototype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197255"/>
            <a:ext cx="377647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Build web-based MVP using MERN stack and cryptographic libraries.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1768" y="2740928"/>
            <a:ext cx="233788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Testing &amp;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3771" y="3110260"/>
            <a:ext cx="361187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Test valid, tampered, revoked and not-found credential cases.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74980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50" b="1" i="0">
                <a:solidFill>
                  <a:srgbClr val="1D4E7E"/>
                </a:solidFill>
                <a:latin typeface="Times New Roman"/>
              </a:defRPr>
            </a:pPr>
            <a:r>
              <a:t>Approach: iterative sprint-based development with regular review, testing and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10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674424"/>
            <a:ext cx="284795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System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705" y="1278974"/>
            <a:ext cx="3190780" cy="10716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6160" y="1305346"/>
            <a:ext cx="15771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 i="0">
                <a:solidFill>
                  <a:srgbClr val="1D4E7E"/>
                </a:solidFill>
                <a:latin typeface="Times New Roman"/>
              </a:defRPr>
            </a:pPr>
            <a:r>
              <a:rPr sz="1600" u="sng" dirty="0"/>
              <a:t>Frontend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628" y="1614557"/>
            <a:ext cx="2911114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React.js dashboards</a:t>
            </a:r>
            <a:br>
              <a:rPr sz="1600" dirty="0"/>
            </a:br>
            <a:r>
              <a:rPr sz="1600" dirty="0"/>
              <a:t>Admin | Issuer | Student | Verifier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7292" y="1810511"/>
            <a:ext cx="961537" cy="18288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16708" y="1274164"/>
            <a:ext cx="3067922" cy="10764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8380" y="1278974"/>
            <a:ext cx="191578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 i="0">
                <a:solidFill>
                  <a:srgbClr val="007A7C"/>
                </a:solidFill>
                <a:latin typeface="Times New Roman"/>
              </a:defRPr>
            </a:pPr>
            <a:r>
              <a:rPr sz="1600" u="sng" dirty="0">
                <a:solidFill>
                  <a:schemeClr val="tx2"/>
                </a:solidFill>
              </a:rPr>
              <a:t>Backend 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6110" y="1549914"/>
            <a:ext cx="274622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Node.js + Express.js</a:t>
            </a:r>
            <a:br>
              <a:rPr sz="1600" dirty="0"/>
            </a:br>
            <a:r>
              <a:rPr sz="1600" dirty="0"/>
              <a:t>Auth, credential, wallet and verification APIs</a:t>
            </a:r>
          </a:p>
        </p:txBody>
      </p:sp>
      <p:sp>
        <p:nvSpPr>
          <p:cNvPr id="17" name="Right Arrow 16"/>
          <p:cNvSpPr/>
          <p:nvPr/>
        </p:nvSpPr>
        <p:spPr>
          <a:xfrm rot="5400000">
            <a:off x="6071106" y="2457723"/>
            <a:ext cx="302907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16708" y="2771888"/>
            <a:ext cx="3067922" cy="1022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10735" y="2771889"/>
            <a:ext cx="160653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 i="0">
                <a:solidFill>
                  <a:srgbClr val="704497"/>
                </a:solidFill>
                <a:latin typeface="Times New Roman"/>
              </a:defRPr>
            </a:pPr>
            <a:r>
              <a:rPr sz="1600" u="sng" dirty="0">
                <a:solidFill>
                  <a:schemeClr val="tx2"/>
                </a:solidFill>
              </a:rPr>
              <a:t>Security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6100" y="3129989"/>
            <a:ext cx="278623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Hashing, signing, signature verification, access control</a:t>
            </a:r>
          </a:p>
        </p:txBody>
      </p:sp>
      <p:sp>
        <p:nvSpPr>
          <p:cNvPr id="21" name="Right Arrow 20"/>
          <p:cNvSpPr/>
          <p:nvPr/>
        </p:nvSpPr>
        <p:spPr>
          <a:xfrm rot="10800000">
            <a:off x="4034072" y="3088155"/>
            <a:ext cx="954758" cy="267690"/>
          </a:xfrm>
          <a:prstGeom prst="rightArrow">
            <a:avLst>
              <a:gd name="adj1" fmla="val 28142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8401" y="2765941"/>
            <a:ext cx="3190780" cy="103763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396160" y="2749601"/>
            <a:ext cx="156966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 i="0">
                <a:solidFill>
                  <a:srgbClr val="EF8021"/>
                </a:solidFill>
                <a:latin typeface="Times New Roman"/>
              </a:defRPr>
            </a:pPr>
            <a:r>
              <a:rPr lang="en-US" sz="1600" u="sng" dirty="0">
                <a:solidFill>
                  <a:schemeClr val="tx2"/>
                </a:solidFill>
              </a:rPr>
              <a:t>Database Layer</a:t>
            </a:r>
            <a:endParaRPr sz="1600" u="sng" dirty="0">
              <a:solidFill>
                <a:schemeClr val="tx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2953" y="3001111"/>
            <a:ext cx="282846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MongoDB</a:t>
            </a:r>
            <a:br>
              <a:rPr sz="1600" dirty="0"/>
            </a:br>
            <a:r>
              <a:rPr sz="1600" dirty="0"/>
              <a:t>Users, colleges, credentials, public keys,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9592" y="4219843"/>
            <a:ext cx="658481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 i="0">
                <a:solidFill>
                  <a:srgbClr val="007A7C"/>
                </a:solidFill>
                <a:latin typeface="Times New Roman"/>
              </a:defRPr>
            </a:pPr>
            <a:r>
              <a:rPr sz="1600" dirty="0"/>
              <a:t>Design focus: clear separation of UI, API, security logic and data 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11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7262" y="761291"/>
            <a:ext cx="371768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System Users and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63039"/>
            <a:ext cx="3527618" cy="93268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488155"/>
            <a:ext cx="152464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lang="en-US" sz="1600" dirty="0"/>
              <a:t>1. </a:t>
            </a:r>
            <a:r>
              <a:rPr sz="1600" dirty="0"/>
              <a:t>Admin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728249"/>
            <a:ext cx="293957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Manage colleges, users, public keys and system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79" y="1463039"/>
            <a:ext cx="3566159" cy="93268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8199" y="1462089"/>
            <a:ext cx="233378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lang="en-US" sz="1600" dirty="0"/>
              <a:t>2. </a:t>
            </a:r>
            <a:r>
              <a:rPr sz="1600" dirty="0"/>
              <a:t>College / Issuer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7" y="1723699"/>
            <a:ext cx="29409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Enter verified student data and issue digitally signed credentials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261" y="2804921"/>
            <a:ext cx="3566157" cy="93268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890317"/>
            <a:ext cx="168122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lang="en-US" dirty="0"/>
              <a:t>3. </a:t>
            </a:r>
            <a:r>
              <a:rPr sz="1600" dirty="0"/>
              <a:t>Student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60432"/>
            <a:ext cx="308197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View, store and share credentials using QR code or verification link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804921"/>
            <a:ext cx="3566158" cy="93268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9917" y="2824215"/>
            <a:ext cx="166039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lang="en-US" sz="1600" dirty="0"/>
              <a:t>4. </a:t>
            </a:r>
            <a:r>
              <a:rPr sz="1600" dirty="0"/>
              <a:t>Verifier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9916" y="3099531"/>
            <a:ext cx="293849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Check credential authenticity and status instantly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849" y="4059823"/>
            <a:ext cx="864230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50" b="1" i="0">
                <a:solidFill>
                  <a:srgbClr val="007A7C"/>
                </a:solidFill>
                <a:latin typeface="Times New Roman"/>
              </a:defRPr>
            </a:pPr>
            <a:r>
              <a:rPr sz="1600" dirty="0"/>
              <a:t>Together, these modules create the complete credential lifecycle: issue → store → share → verify.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12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674424"/>
            <a:ext cx="282526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Technical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1" y="1408176"/>
            <a:ext cx="1005840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362" y="1549188"/>
            <a:ext cx="95891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Issuer</a:t>
            </a:r>
            <a:br>
              <a:rPr sz="1400" dirty="0"/>
            </a:br>
            <a:r>
              <a:rPr sz="1400" dirty="0"/>
              <a:t>enters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44752" y="1700784"/>
            <a:ext cx="201168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55064" y="1428892"/>
            <a:ext cx="1005840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51580" y="1434464"/>
            <a:ext cx="891036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Create credential</a:t>
            </a:r>
            <a:br>
              <a:rPr sz="1400" dirty="0"/>
            </a:br>
            <a:r>
              <a:rPr sz="1400" dirty="0"/>
              <a:t>JSON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88336" y="1700784"/>
            <a:ext cx="201168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98648" y="1417320"/>
            <a:ext cx="1005840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36184" y="1434894"/>
            <a:ext cx="866759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Generate</a:t>
            </a:r>
            <a:br>
              <a:rPr sz="1400" dirty="0"/>
            </a:br>
            <a:r>
              <a:rPr sz="1400" dirty="0"/>
              <a:t>SHA-256 hash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931920" y="1700784"/>
            <a:ext cx="201168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42232" y="1417320"/>
            <a:ext cx="1005840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42737" y="1427719"/>
            <a:ext cx="1028195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Sign hash using</a:t>
            </a:r>
            <a:br>
              <a:rPr sz="1400" dirty="0"/>
            </a:br>
            <a:r>
              <a:rPr sz="1400" dirty="0"/>
              <a:t>private key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175504" y="1700784"/>
            <a:ext cx="201168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385816" y="1417320"/>
            <a:ext cx="1005840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9967" y="1553616"/>
            <a:ext cx="1077539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Store signed</a:t>
            </a:r>
            <a:br>
              <a:rPr sz="1400" dirty="0"/>
            </a:br>
            <a:r>
              <a:rPr sz="1400" dirty="0"/>
              <a:t>credential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419088" y="1700784"/>
            <a:ext cx="201168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47688" y="1423035"/>
            <a:ext cx="1005840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1132" y="1567903"/>
            <a:ext cx="98296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Share QR /</a:t>
            </a:r>
            <a:br>
              <a:rPr sz="1400" dirty="0"/>
            </a:br>
            <a:r>
              <a:rPr sz="1400" dirty="0"/>
              <a:t>verify link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662672" y="1700784"/>
            <a:ext cx="201168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872982" y="1423035"/>
            <a:ext cx="1067279" cy="749808"/>
          </a:xfrm>
          <a:prstGeom prst="roundRect">
            <a:avLst/>
          </a:prstGeom>
          <a:solidFill>
            <a:srgbClr val="FA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42263" y="1545176"/>
            <a:ext cx="106728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Verify using</a:t>
            </a:r>
            <a:br>
              <a:rPr sz="1400" dirty="0"/>
            </a:br>
            <a:r>
              <a:rPr sz="1400" dirty="0"/>
              <a:t>public key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169" y="2653320"/>
            <a:ext cx="1948143" cy="929411"/>
          </a:xfrm>
          <a:prstGeom prst="roundRect">
            <a:avLst/>
          </a:prstGeom>
          <a:solidFill>
            <a:srgbClr val="F1FAFF"/>
          </a:solidFill>
          <a:ln w="15240">
            <a:solidFill>
              <a:srgbClr val="007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Student Wallet</a:t>
            </a:r>
            <a:br>
              <a:rPr sz="1600" dirty="0"/>
            </a:br>
            <a:r>
              <a:rPr sz="1600" dirty="0"/>
              <a:t>QR / Verification Link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706623" y="3048666"/>
            <a:ext cx="548640" cy="201168"/>
          </a:xfrm>
          <a:prstGeom prst="rightArrow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419621" y="2653320"/>
            <a:ext cx="2011680" cy="929411"/>
          </a:xfrm>
          <a:prstGeom prst="roundRect">
            <a:avLst/>
          </a:prstGeom>
          <a:solidFill>
            <a:srgbClr val="F7F7FF"/>
          </a:solidFill>
          <a:ln w="15240">
            <a:solidFill>
              <a:srgbClr val="704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Verification API</a:t>
            </a:r>
            <a:br>
              <a:rPr sz="1600" dirty="0"/>
            </a:br>
            <a:r>
              <a:rPr sz="1600" dirty="0"/>
              <a:t>recreates hash + checks signature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614416" y="3000089"/>
            <a:ext cx="548640" cy="201168"/>
          </a:xfrm>
          <a:prstGeom prst="rightArrow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54610" y="2647319"/>
            <a:ext cx="1874519" cy="935412"/>
          </a:xfrm>
          <a:prstGeom prst="roundRect">
            <a:avLst/>
          </a:prstGeom>
          <a:solidFill>
            <a:srgbClr val="F5FFF8"/>
          </a:solidFill>
          <a:ln w="15240">
            <a:solidFill>
              <a:srgbClr val="29A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Result</a:t>
            </a:r>
            <a:br>
              <a:rPr sz="1600" dirty="0"/>
            </a:br>
            <a:r>
              <a:rPr sz="1600" dirty="0"/>
              <a:t>Valid / Invalid / Revoked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627" y="4062923"/>
            <a:ext cx="817204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50" b="1" i="0">
                <a:solidFill>
                  <a:srgbClr val="C62828"/>
                </a:solidFill>
                <a:latin typeface="Times New Roman"/>
              </a:defRPr>
            </a:pPr>
            <a:r>
              <a:rPr sz="1400" dirty="0"/>
              <a:t>Security Principle: Any change in credential data changes the hash, causing signature verification to fail.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13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18915" y="822980"/>
            <a:ext cx="421782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Cryptographic Security Model</a:t>
            </a:r>
          </a:p>
        </p:txBody>
      </p:sp>
      <p:pic>
        <p:nvPicPr>
          <p:cNvPr id="10" name="Picture 9" descr="wide_clean_vector_illustration_style_scene_of_a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724" y="1650847"/>
            <a:ext cx="3510849" cy="25608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6147" y="1478415"/>
            <a:ext cx="126188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491" y="1802140"/>
            <a:ext cx="359359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Credential data is converted into a fixed fingerprint using SHA-256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915" y="2495297"/>
            <a:ext cx="202921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Digital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971" y="2837677"/>
            <a:ext cx="363541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Issuer signs the hash using its private key.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915" y="3255605"/>
            <a:ext cx="257621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Public Key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147" y="3595187"/>
            <a:ext cx="460331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just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Verifier confirms authenticity using issuer public key.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54" y="3968567"/>
            <a:ext cx="212109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Revocation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" y="4362020"/>
            <a:ext cx="434766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System checks whether the credential is still valid.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7"/>
            <a:ext cx="4699300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98542" y="773334"/>
            <a:ext cx="279114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Expected Ou</a:t>
            </a:r>
            <a:r>
              <a:rPr lang="en-US" sz="2400" u="sng" dirty="0"/>
              <a:t>tcomes</a:t>
            </a:r>
            <a:endParaRPr sz="2400" u="sng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1449325"/>
            <a:ext cx="2331720" cy="749808"/>
          </a:xfrm>
          <a:prstGeom prst="roundRect">
            <a:avLst/>
          </a:prstGeom>
          <a:solidFill>
            <a:srgbClr val="F8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Working web-based prototype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49325"/>
            <a:ext cx="2331720" cy="749808"/>
          </a:xfrm>
          <a:prstGeom prst="roundRect">
            <a:avLst/>
          </a:prstGeom>
          <a:solidFill>
            <a:srgbClr val="F8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Admin and college issuer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49325"/>
            <a:ext cx="2331720" cy="749808"/>
          </a:xfrm>
          <a:prstGeom prst="roundRect">
            <a:avLst/>
          </a:prstGeom>
          <a:solidFill>
            <a:srgbClr val="F8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Student digital wallet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704" y="2713482"/>
            <a:ext cx="2331720" cy="749808"/>
          </a:xfrm>
          <a:prstGeom prst="roundRect">
            <a:avLst/>
          </a:prstGeom>
          <a:solidFill>
            <a:srgbClr val="F8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QR-based verifier 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7442" y="2713482"/>
            <a:ext cx="2331720" cy="749808"/>
          </a:xfrm>
          <a:prstGeom prst="roundRect">
            <a:avLst/>
          </a:prstGeom>
          <a:solidFill>
            <a:srgbClr val="F8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Valid / invalid / tampered / revoked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2871" y="2713482"/>
            <a:ext cx="2331720" cy="749808"/>
          </a:xfrm>
          <a:prstGeom prst="roundRect">
            <a:avLst/>
          </a:prstGeom>
          <a:solidFill>
            <a:srgbClr val="F8FCFF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Project report and defense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9233" y="3995452"/>
            <a:ext cx="6805534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007A7C"/>
                </a:solidFill>
                <a:latin typeface="Times New Roman"/>
              </a:defRPr>
            </a:pPr>
            <a:r>
              <a:rPr sz="1600" dirty="0"/>
              <a:t>The final system will demonstrate secure issuing, storing, sharing and verifying of academic credentials.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153DA-BFEC-D76A-78E4-18A4E14731EA}"/>
              </a:ext>
            </a:extLst>
          </p:cNvPr>
          <p:cNvSpPr txBox="1"/>
          <p:nvPr/>
        </p:nvSpPr>
        <p:spPr>
          <a:xfrm>
            <a:off x="3732551" y="9743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850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26384" y="703759"/>
            <a:ext cx="402930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Work Plan / Sprint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13" y="1897600"/>
            <a:ext cx="90441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Proposal</a:t>
            </a:r>
            <a:br>
              <a:rPr sz="1600" dirty="0"/>
            </a:br>
            <a:r>
              <a:rPr sz="1600" dirty="0"/>
              <a:t>Defense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6112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70432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312" y="1897601"/>
            <a:ext cx="79060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System</a:t>
            </a:r>
            <a:br>
              <a:rPr sz="1600" dirty="0"/>
            </a:br>
            <a:r>
              <a:rPr sz="1600" dirty="0"/>
              <a:t>Design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46504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20824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7130" y="1897600"/>
            <a:ext cx="76174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Auth +</a:t>
            </a:r>
            <a:br>
              <a:rPr sz="1600" dirty="0"/>
            </a:br>
            <a:r>
              <a:rPr sz="1600" dirty="0"/>
              <a:t>Roles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96896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71216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6264" y="1897600"/>
            <a:ext cx="82426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Issuer</a:t>
            </a:r>
            <a:br>
              <a:rPr sz="1600" dirty="0"/>
            </a:br>
            <a:r>
              <a:rPr sz="1600" dirty="0"/>
              <a:t>Module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47288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21608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2191" y="1897600"/>
            <a:ext cx="89319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Crypto</a:t>
            </a:r>
            <a:br>
              <a:rPr sz="1600" dirty="0"/>
            </a:br>
            <a:r>
              <a:rPr sz="1600" dirty="0"/>
              <a:t>Issuance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97680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0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658" y="1897600"/>
            <a:ext cx="81304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Student</a:t>
            </a:r>
            <a:br>
              <a:rPr sz="1600" dirty="0"/>
            </a:br>
            <a:r>
              <a:rPr sz="1600" dirty="0"/>
              <a:t>Wallet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48072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22392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409" y="1897600"/>
            <a:ext cx="814326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Verifier</a:t>
            </a:r>
            <a:br>
              <a:rPr sz="1600" dirty="0"/>
            </a:br>
            <a:r>
              <a:rPr sz="1600" dirty="0"/>
              <a:t>Portal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98464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17064" y="1434713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3776" y="1928377"/>
            <a:ext cx="100380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Security +</a:t>
            </a:r>
            <a:br>
              <a:rPr sz="1400" dirty="0"/>
            </a:br>
            <a:r>
              <a:rPr sz="1400" dirty="0"/>
              <a:t>Revocation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934919" y="1576837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7205472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074" y="1928106"/>
            <a:ext cx="107273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400" dirty="0"/>
              <a:t>Testing +</a:t>
            </a:r>
            <a:br>
              <a:rPr sz="1400" dirty="0"/>
            </a:br>
            <a:r>
              <a:rPr sz="1400" dirty="0"/>
              <a:t>Deployment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841785" y="1554480"/>
            <a:ext cx="201168" cy="1645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32784" y="1417320"/>
            <a:ext cx="566928" cy="457200"/>
          </a:xfrm>
          <a:prstGeom prst="roundRect">
            <a:avLst/>
          </a:prstGeom>
          <a:solidFill>
            <a:schemeClr val="bg2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chemeClr val="tx1"/>
                </a:solidFill>
              </a:rPr>
              <a:t>S10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2128" y="1882765"/>
            <a:ext cx="857927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80" b="0" i="0">
                <a:solidFill>
                  <a:srgbClr val="162644"/>
                </a:solidFill>
                <a:latin typeface="Times New Roman"/>
              </a:defRPr>
            </a:pPr>
            <a:r>
              <a:rPr sz="1600" dirty="0"/>
              <a:t>Final</a:t>
            </a:r>
            <a:br>
              <a:rPr sz="1600" dirty="0"/>
            </a:br>
            <a:r>
              <a:rPr sz="1600" dirty="0"/>
              <a:t>Defense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84" y="2751137"/>
            <a:ext cx="7299558" cy="838507"/>
          </a:xfrm>
          <a:prstGeom prst="roundRect">
            <a:avLst>
              <a:gd name="adj" fmla="val 47717"/>
            </a:avLst>
          </a:prstGeom>
          <a:solidFill>
            <a:srgbClr val="FAFC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8147" y="2696495"/>
            <a:ext cx="1383456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u="sng" dirty="0"/>
              <a:t>Current Phase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584" y="2952865"/>
            <a:ext cx="6803136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Requirement analysis, proposal creation, presentation preparation and proposal defense.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84" y="3737610"/>
            <a:ext cx="7324303" cy="838508"/>
          </a:xfrm>
          <a:prstGeom prst="roundRect">
            <a:avLst>
              <a:gd name="adj" fmla="val 47717"/>
            </a:avLst>
          </a:prstGeom>
          <a:solidFill>
            <a:srgbClr val="FAFC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7584" y="3772187"/>
            <a:ext cx="1140056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u="sng" dirty="0"/>
              <a:t>Final Phase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4012204"/>
            <a:ext cx="675453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Testing, deployment, final documentation, demo preparation </a:t>
            </a:r>
            <a:r>
              <a:rPr lang="en-US" sz="1600" dirty="0"/>
              <a:t>and </a:t>
            </a:r>
            <a:r>
              <a:rPr sz="1600" dirty="0"/>
              <a:t>final project defense.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dirty="0"/>
              <a:t>1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763797"/>
            <a:ext cx="312617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/>
              <a:t>Scope and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65" y="1354724"/>
            <a:ext cx="155029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MVP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560" y="1751284"/>
            <a:ext cx="373075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Web-based prototype with admin, issuer, student wallet and verifier portal.</a:t>
            </a:r>
            <a:r>
              <a:rPr lang="en-US" sz="1600" dirty="0"/>
              <a:t> </a:t>
            </a:r>
            <a:r>
              <a:rPr sz="1600" dirty="0"/>
              <a:t>Uses controlled academic data for</a:t>
            </a:r>
            <a:r>
              <a:rPr lang="en-US" sz="1600" dirty="0"/>
              <a:t> </a:t>
            </a:r>
            <a:r>
              <a:rPr sz="1600" dirty="0"/>
              <a:t>demonstration</a:t>
            </a:r>
            <a:r>
              <a:rPr sz="1400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7690" y="1373682"/>
            <a:ext cx="213872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sz="1600" u="sng" dirty="0"/>
              <a:t>Initial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7690" y="1777450"/>
            <a:ext cx="382371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600" dirty="0"/>
              <a:t>No real government integration, national ID integration, actual university database access or legal production deployment.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560" y="2962366"/>
            <a:ext cx="76809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804" y="2962366"/>
            <a:ext cx="2003818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162644"/>
                </a:solidFill>
                <a:latin typeface="Times New Roman"/>
              </a:defRPr>
            </a:pPr>
            <a:r>
              <a:rPr u="sng" dirty="0"/>
              <a:t>Future Enhancements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85531"/>
            <a:ext cx="76260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5F6C7E"/>
                </a:solidFill>
                <a:latin typeface="Times New Roman"/>
              </a:defRPr>
            </a:pPr>
            <a:r>
              <a:rPr sz="1400" dirty="0"/>
              <a:t>Blockchain registry, decentralized identity, employer API, mobile wallet, biometric identity binding and national-level adoption.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5646" y="4099705"/>
            <a:ext cx="592078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50" b="1" i="0">
                <a:solidFill>
                  <a:srgbClr val="1D4E7E"/>
                </a:solidFill>
                <a:latin typeface="Times New Roman"/>
              </a:defRPr>
            </a:pPr>
            <a:r>
              <a:rPr lang="en-US" sz="1600" u="sng" dirty="0"/>
              <a:t>NOTE</a:t>
            </a:r>
            <a:r>
              <a:rPr lang="en-US" sz="1600" dirty="0"/>
              <a:t> : </a:t>
            </a:r>
            <a:r>
              <a:rPr sz="1600" dirty="0"/>
              <a:t>The project is intentionally scoped as a feasible academic</a:t>
            </a:r>
            <a:endParaRPr lang="en-US" sz="1600" dirty="0"/>
          </a:p>
          <a:p>
            <a:pPr algn="ctr">
              <a:defRPr sz="1450" b="1" i="0">
                <a:solidFill>
                  <a:srgbClr val="1D4E7E"/>
                </a:solidFill>
                <a:latin typeface="Times New Roman"/>
              </a:defRPr>
            </a:pPr>
            <a:r>
              <a:rPr sz="1600" dirty="0"/>
              <a:t> prototype, not a full national credential platform.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74CFE2-3CCA-6618-3561-B47FC15E005E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>
            <a:extLst>
              <a:ext uri="{FF2B5EF4-FFF2-40B4-BE49-F238E27FC236}">
                <a16:creationId xmlns:a16="http://schemas.microsoft.com/office/drawing/2014/main" id="{16B5C38C-789B-574D-2A66-6A98241B1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>
            <a:extLst>
              <a:ext uri="{FF2B5EF4-FFF2-40B4-BE49-F238E27FC236}">
                <a16:creationId xmlns:a16="http://schemas.microsoft.com/office/drawing/2014/main" id="{151B4BC5-2234-033F-5DC4-C467732A2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850" y="73152"/>
            <a:ext cx="452846" cy="475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4A6DCA-1561-C7DC-8A09-2FAED56BB52F}"/>
              </a:ext>
            </a:extLst>
          </p:cNvPr>
          <p:cNvSpPr txBox="1"/>
          <p:nvPr/>
        </p:nvSpPr>
        <p:spPr>
          <a:xfrm>
            <a:off x="679704" y="694944"/>
            <a:ext cx="1613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AF491-3031-ABFD-6A55-17F9CF418F57}"/>
              </a:ext>
            </a:extLst>
          </p:cNvPr>
          <p:cNvSpPr txBox="1"/>
          <p:nvPr/>
        </p:nvSpPr>
        <p:spPr>
          <a:xfrm>
            <a:off x="679704" y="1136567"/>
            <a:ext cx="770826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 A. Grassi, M. E. Garcia, and J. L. Fenton, “Digital identity guidelines,”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NIST(National Institute of Standards and Technology), Tech. Rep., 2017.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“Decentralized identifiers(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)v1.0,” 2022.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[Online]. Available: https://www.w3. org/TR/did-core/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W3C, “Verifiable credentials data model 1.1,” 2022.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[Online]. Available: https: //www.w3.org/TR/vc-data-model/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Cucko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Turkanović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“Decentralized and self-sovereign identity in the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era of blockchain: a survey,” IEEE Access, vol. 9, pp. 139009–139027, 2021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R. R. S, “Secure academic credential management using blockchain-based self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 identity,” International Journal for Research in Applied Science and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Technology, vol. 13, pp. 2238–2244, 9 2025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Rustemi and et al., “Blockchain-based systems for academic certificate verification: a systematic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review,” ResearchGate/IEEE Access, 2023.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M. Tariq and et al, “Cerberus: A blockchain-based credential verification system,” 2019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M. M. Lab, “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 standard for blockchain certificates,” 2016.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[Online]. Available: https://www.blockcerts.org/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2D1F01-09B5-7258-7822-D8B7108D7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08804"/>
            <a:ext cx="9144000" cy="323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76F63-8E4F-2D15-A594-759457D5F906}"/>
              </a:ext>
            </a:extLst>
          </p:cNvPr>
          <p:cNvSpPr txBox="1"/>
          <p:nvPr/>
        </p:nvSpPr>
        <p:spPr>
          <a:xfrm>
            <a:off x="8661037" y="4881780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lang="en-US" dirty="0"/>
              <a:t>17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350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u_emble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533400" cy="457200"/>
          </a:xfrm>
          <a:prstGeom prst="rect">
            <a:avLst/>
          </a:prstGeom>
        </p:spPr>
      </p:pic>
      <p:pic>
        <p:nvPicPr>
          <p:cNvPr id="4" name="Picture 3" descr="orbi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73152"/>
            <a:ext cx="452846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D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22350" y="4858696"/>
            <a:ext cx="46992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imes New Roman"/>
              </a:defRPr>
            </a:pPr>
            <a:r>
              <a:rPr sz="1200" dirty="0"/>
              <a:t>Department of ICT, Cosmos College of Management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038" y="4881780"/>
            <a:ext cx="300082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 i="0">
                <a:solidFill>
                  <a:srgbClr val="E6E6E6"/>
                </a:solidFill>
                <a:latin typeface="Times New Roman"/>
              </a:defRPr>
            </a:pPr>
            <a:r>
              <a:rPr dirty="0"/>
              <a:t>1</a:t>
            </a:r>
            <a:r>
              <a:rPr lang="en-US" dirty="0"/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260820"/>
            <a:ext cx="9144000" cy="769441"/>
          </a:xfrm>
          <a:prstGeom prst="rect">
            <a:avLst/>
          </a:prstGeom>
          <a:solidFill>
            <a:srgbClr val="E8F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0899" y="2209502"/>
            <a:ext cx="30346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 i="0">
                <a:solidFill>
                  <a:srgbClr val="5A6E41"/>
                </a:solidFill>
                <a:latin typeface="Times New Roman"/>
              </a:defRPr>
            </a:pPr>
            <a:r>
              <a:rPr sz="4400" dirty="0"/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73" y="1376313"/>
            <a:ext cx="820000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 i="0">
                <a:solidFill>
                  <a:srgbClr val="162644"/>
                </a:solidFill>
                <a:latin typeface="Times New Roman"/>
              </a:defRPr>
            </a:pPr>
            <a:r>
              <a:rPr sz="2400" u="sng" dirty="0" err="1"/>
              <a:t>DiGiWallet</a:t>
            </a:r>
            <a:r>
              <a:rPr sz="2400" dirty="0"/>
              <a:t>: Digital Academic Credential Verification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176" y="3445540"/>
            <a:ext cx="6814687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 i="0">
                <a:solidFill>
                  <a:srgbClr val="007A7C"/>
                </a:solidFill>
                <a:latin typeface="Times New Roman"/>
              </a:defRPr>
            </a:pPr>
            <a:r>
              <a:rPr lang="en-US" sz="4000" dirty="0"/>
              <a:t>Any </a:t>
            </a:r>
            <a:r>
              <a:rPr sz="4000" dirty="0"/>
              <a:t>Questions</a:t>
            </a:r>
            <a:r>
              <a:rPr lang="en-US" sz="4000" dirty="0"/>
              <a:t> or </a:t>
            </a:r>
            <a:r>
              <a:rPr sz="4000" dirty="0"/>
              <a:t>Suggestions</a:t>
            </a:r>
            <a:r>
              <a:rPr lang="en-US" sz="4000" dirty="0"/>
              <a:t>?!</a:t>
            </a:r>
            <a:endParaRPr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1808</Words>
  <Application>Microsoft Office PowerPoint</Application>
  <PresentationFormat>On-screen Show (16:9)</PresentationFormat>
  <Paragraphs>219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</dc:creator>
  <cp:keywords/>
  <dc:description>generated using python-pptx</dc:description>
  <cp:lastModifiedBy>bibek ghimire</cp:lastModifiedBy>
  <cp:revision>6</cp:revision>
  <dcterms:created xsi:type="dcterms:W3CDTF">2013-01-27T09:14:16Z</dcterms:created>
  <dcterms:modified xsi:type="dcterms:W3CDTF">2026-05-31T09:16:29Z</dcterms:modified>
  <cp:category/>
</cp:coreProperties>
</file>